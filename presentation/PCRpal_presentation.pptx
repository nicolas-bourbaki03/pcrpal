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DM Sans" charset="1" panose="00000000000000000000"/>
      <p:regular r:id="rId16"/>
    </p:embeddedFont>
    <p:embeddedFont>
      <p:font typeface="DM Sans Bold" charset="1" panose="00000000000000000000"/>
      <p:regular r:id="rId17"/>
    </p:embeddedFont>
    <p:embeddedFont>
      <p:font typeface="Open Sans Bold" charset="1" panose="020B0806030504020204"/>
      <p:regular r:id="rId18"/>
    </p:embeddedFont>
    <p:embeddedFont>
      <p:font typeface="Open Sans" charset="1" panose="020B0606030504020204"/>
      <p:regular r:id="rId19"/>
    </p:embeddedFont>
    <p:embeddedFont>
      <p:font typeface="Open Sans Italics" charset="1" panose="020B060603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tree/main" TargetMode="External" Type="http://schemas.openxmlformats.org/officeDocument/2006/relationships/hyperlink"/><Relationship Id="rId5" Target="../media/image3.png" Type="http://schemas.openxmlformats.org/officeDocument/2006/relationships/image"/><Relationship Id="rId6" Target="../media/image4.png" Type="http://schemas.openxmlformats.org/officeDocument/2006/relationships/image"/><Relationship Id="rId7" Target="https://github.com/nicolas-bourbaki03/PCRpal/tree/main"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tree/main" TargetMode="External" Type="http://schemas.openxmlformats.org/officeDocument/2006/relationships/hyperlink"/><Relationship Id="rId5" Target="../media/image5.pn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 Id="rId5"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 Id="rId5"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 Id="rId5" Target="https://doi.org/10.1093/nar/gks596" TargetMode="External" Type="http://schemas.openxmlformats.org/officeDocument/2006/relationships/hyperlink"/><Relationship Id="rId6" Target="https://doi.org/10.1093/nar/gkm234" TargetMode="External" Type="http://schemas.openxmlformats.org/officeDocument/2006/relationships/hyperlink"/><Relationship Id="rId7" Target="https://doi.org/10.1093/nar/6.11.3543" TargetMode="External" Type="http://schemas.openxmlformats.org/officeDocument/2006/relationships/hyperlink"/><Relationship Id="rId8" Target="https://doi.org/10.1093/nar/25.16.3235" TargetMode="External" Type="http://schemas.openxmlformats.org/officeDocument/2006/relationships/hyperlink"/><Relationship Id="rId9" Target="https://doi.org/10.1093/nar/17.21.8543"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nicolas-bourbaki03/PCRpal"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tree/main"/>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976239" cy="1976239"/>
          </a:xfrm>
          <a:custGeom>
            <a:avLst/>
            <a:gdLst/>
            <a:ahLst/>
            <a:cxnLst/>
            <a:rect r="r" b="b" t="t" l="l"/>
            <a:pathLst>
              <a:path h="1976239" w="1976239">
                <a:moveTo>
                  <a:pt x="0" y="0"/>
                </a:moveTo>
                <a:lnTo>
                  <a:pt x="1976239" y="0"/>
                </a:lnTo>
                <a:lnTo>
                  <a:pt x="1976239" y="1976239"/>
                </a:lnTo>
                <a:lnTo>
                  <a:pt x="0" y="1976239"/>
                </a:lnTo>
                <a:lnTo>
                  <a:pt x="0" y="0"/>
                </a:lnTo>
                <a:close/>
              </a:path>
            </a:pathLst>
          </a:custGeom>
          <a:blipFill>
            <a:blip r:embed="rId5"/>
            <a:stretch>
              <a:fillRect l="0" t="0" r="0" b="0"/>
            </a:stretch>
          </a:blipFill>
        </p:spPr>
      </p:sp>
      <p:sp>
        <p:nvSpPr>
          <p:cNvPr name="Freeform 4" id="4"/>
          <p:cNvSpPr/>
          <p:nvPr/>
        </p:nvSpPr>
        <p:spPr>
          <a:xfrm flipH="false" flipV="false" rot="0">
            <a:off x="-258945" y="6914302"/>
            <a:ext cx="5995907" cy="3372698"/>
          </a:xfrm>
          <a:custGeom>
            <a:avLst/>
            <a:gdLst/>
            <a:ahLst/>
            <a:cxnLst/>
            <a:rect r="r" b="b" t="t" l="l"/>
            <a:pathLst>
              <a:path h="3372698" w="5995907">
                <a:moveTo>
                  <a:pt x="0" y="0"/>
                </a:moveTo>
                <a:lnTo>
                  <a:pt x="5995907" y="0"/>
                </a:lnTo>
                <a:lnTo>
                  <a:pt x="5995907" y="3372698"/>
                </a:lnTo>
                <a:lnTo>
                  <a:pt x="0" y="3372698"/>
                </a:lnTo>
                <a:lnTo>
                  <a:pt x="0" y="0"/>
                </a:lnTo>
                <a:close/>
              </a:path>
            </a:pathLst>
          </a:custGeom>
          <a:blipFill>
            <a:blip r:embed="rId6"/>
            <a:stretch>
              <a:fillRect l="0" t="0" r="0" b="0"/>
            </a:stretch>
          </a:blipFill>
        </p:spPr>
      </p:sp>
      <p:sp>
        <p:nvSpPr>
          <p:cNvPr name="TextBox 5" id="5"/>
          <p:cNvSpPr txBox="true"/>
          <p:nvPr/>
        </p:nvSpPr>
        <p:spPr>
          <a:xfrm rot="0">
            <a:off x="13501167" y="1540790"/>
            <a:ext cx="3758133" cy="933008"/>
          </a:xfrm>
          <a:prstGeom prst="rect">
            <a:avLst/>
          </a:prstGeom>
        </p:spPr>
        <p:txBody>
          <a:bodyPr anchor="t" rtlCol="false" tIns="0" lIns="0" bIns="0" rIns="0">
            <a:spAutoFit/>
          </a:bodyPr>
          <a:lstStyle/>
          <a:p>
            <a:pPr algn="ctr">
              <a:lnSpc>
                <a:spcPts val="2560"/>
              </a:lnSpc>
            </a:pPr>
            <a:r>
              <a:rPr lang="en-US" sz="1984" spc="-109">
                <a:solidFill>
                  <a:srgbClr val="343434"/>
                </a:solidFill>
                <a:latin typeface="DM Sans"/>
                <a:ea typeface="DM Sans"/>
                <a:cs typeface="DM Sans"/>
                <a:sym typeface="DM Sans"/>
              </a:rPr>
              <a:t>AGATA DUBIŃSKA</a:t>
            </a:r>
          </a:p>
          <a:p>
            <a:pPr algn="ctr">
              <a:lnSpc>
                <a:spcPts val="2560"/>
              </a:lnSpc>
            </a:pPr>
            <a:r>
              <a:rPr lang="en-US" sz="1984" spc="-109">
                <a:solidFill>
                  <a:srgbClr val="343434"/>
                </a:solidFill>
                <a:latin typeface="DM Sans"/>
                <a:ea typeface="DM Sans"/>
                <a:cs typeface="DM Sans"/>
                <a:sym typeface="DM Sans"/>
              </a:rPr>
              <a:t>KATARZYNA MAKOWSKA</a:t>
            </a:r>
          </a:p>
          <a:p>
            <a:pPr algn="ctr" marL="0" indent="0" lvl="1">
              <a:lnSpc>
                <a:spcPts val="2560"/>
              </a:lnSpc>
              <a:spcBef>
                <a:spcPct val="0"/>
              </a:spcBef>
            </a:pPr>
            <a:r>
              <a:rPr lang="en-US" sz="1984" spc="-109">
                <a:solidFill>
                  <a:srgbClr val="343434"/>
                </a:solidFill>
                <a:latin typeface="DM Sans"/>
                <a:ea typeface="DM Sans"/>
                <a:cs typeface="DM Sans"/>
                <a:sym typeface="DM Sans"/>
              </a:rPr>
              <a:t>MARIA SZCZERBIŃSKA</a:t>
            </a: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01</a:t>
            </a:r>
          </a:p>
        </p:txBody>
      </p:sp>
      <p:sp>
        <p:nvSpPr>
          <p:cNvPr name="TextBox 7" id="7"/>
          <p:cNvSpPr txBox="true"/>
          <p:nvPr/>
        </p:nvSpPr>
        <p:spPr>
          <a:xfrm rot="0">
            <a:off x="6404984" y="3247245"/>
            <a:ext cx="5478032" cy="2134108"/>
          </a:xfrm>
          <a:prstGeom prst="rect">
            <a:avLst/>
          </a:prstGeom>
        </p:spPr>
        <p:txBody>
          <a:bodyPr anchor="t" rtlCol="false" tIns="0" lIns="0" bIns="0" rIns="0">
            <a:spAutoFit/>
          </a:bodyPr>
          <a:lstStyle/>
          <a:p>
            <a:pPr algn="ctr">
              <a:lnSpc>
                <a:spcPts val="17416"/>
              </a:lnSpc>
            </a:pPr>
            <a:r>
              <a:rPr lang="en-US" sz="12440" b="true">
                <a:solidFill>
                  <a:srgbClr val="343434"/>
                </a:solidFill>
                <a:latin typeface="Open Sans Bold"/>
                <a:ea typeface="Open Sans Bold"/>
                <a:cs typeface="Open Sans Bold"/>
                <a:sym typeface="Open Sans Bold"/>
              </a:rPr>
              <a:t>PCRpal</a:t>
            </a:r>
          </a:p>
        </p:txBody>
      </p:sp>
      <p:sp>
        <p:nvSpPr>
          <p:cNvPr name="TextBox 8" id="8"/>
          <p:cNvSpPr txBox="true"/>
          <p:nvPr/>
        </p:nvSpPr>
        <p:spPr>
          <a:xfrm rot="0">
            <a:off x="2739009" y="6333852"/>
            <a:ext cx="12809982" cy="580450"/>
          </a:xfrm>
          <a:prstGeom prst="rect">
            <a:avLst/>
          </a:prstGeom>
        </p:spPr>
        <p:txBody>
          <a:bodyPr anchor="t" rtlCol="false" tIns="0" lIns="0" bIns="0" rIns="0">
            <a:spAutoFit/>
          </a:bodyPr>
          <a:lstStyle/>
          <a:p>
            <a:pPr algn="just">
              <a:lnSpc>
                <a:spcPts val="4756"/>
              </a:lnSpc>
            </a:pPr>
            <a:r>
              <a:rPr lang="en-US" sz="3397">
                <a:solidFill>
                  <a:srgbClr val="343434"/>
                </a:solidFill>
                <a:latin typeface="Open Sans"/>
                <a:ea typeface="Open Sans"/>
                <a:cs typeface="Open Sans"/>
                <a:sym typeface="Open Sans"/>
              </a:rPr>
              <a:t>Python CLI tool for batch validation and analysis of PCR primers</a:t>
            </a:r>
          </a:p>
        </p:txBody>
      </p:sp>
      <p:sp>
        <p:nvSpPr>
          <p:cNvPr name="TextBox 9" id="9"/>
          <p:cNvSpPr txBox="true"/>
          <p:nvPr/>
        </p:nvSpPr>
        <p:spPr>
          <a:xfrm rot="0">
            <a:off x="6063429" y="7154606"/>
            <a:ext cx="6161142" cy="580390"/>
          </a:xfrm>
          <a:prstGeom prst="rect">
            <a:avLst/>
          </a:prstGeom>
        </p:spPr>
        <p:txBody>
          <a:bodyPr anchor="t" rtlCol="false" tIns="0" lIns="0" bIns="0" rIns="0">
            <a:spAutoFit/>
          </a:bodyPr>
          <a:lstStyle/>
          <a:p>
            <a:pPr algn="ctr">
              <a:lnSpc>
                <a:spcPts val="4759"/>
              </a:lnSpc>
            </a:pPr>
            <a:r>
              <a:rPr lang="en-US" b="true" sz="3399" u="sng">
                <a:solidFill>
                  <a:srgbClr val="343434"/>
                </a:solidFill>
                <a:latin typeface="Open Sans Bold"/>
                <a:ea typeface="Open Sans Bold"/>
                <a:cs typeface="Open Sans Bold"/>
                <a:sym typeface="Open Sans Bold"/>
                <a:hlinkClick r:id="rId7" tooltip="https://github.com/nicolas-bourbaki03/PCRpal/tree/main"/>
              </a:rPr>
              <a:t>GIT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tree/main"/>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89171" y="2466085"/>
            <a:ext cx="10709659" cy="5354829"/>
          </a:xfrm>
          <a:custGeom>
            <a:avLst/>
            <a:gdLst/>
            <a:ahLst/>
            <a:cxnLst/>
            <a:rect r="r" b="b" t="t" l="l"/>
            <a:pathLst>
              <a:path h="5354829" w="10709659">
                <a:moveTo>
                  <a:pt x="0" y="0"/>
                </a:moveTo>
                <a:lnTo>
                  <a:pt x="10709658" y="0"/>
                </a:lnTo>
                <a:lnTo>
                  <a:pt x="10709658" y="5354830"/>
                </a:lnTo>
                <a:lnTo>
                  <a:pt x="0" y="53548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03</a:t>
            </a:r>
          </a:p>
        </p:txBody>
      </p:sp>
      <p:sp>
        <p:nvSpPr>
          <p:cNvPr name="TextBox 4" id="4"/>
          <p:cNvSpPr txBox="true"/>
          <p:nvPr/>
        </p:nvSpPr>
        <p:spPr>
          <a:xfrm rot="0">
            <a:off x="1531569" y="1693304"/>
            <a:ext cx="15224863" cy="6824193"/>
          </a:xfrm>
          <a:prstGeom prst="rect">
            <a:avLst/>
          </a:prstGeom>
        </p:spPr>
        <p:txBody>
          <a:bodyPr anchor="t" rtlCol="false" tIns="0" lIns="0" bIns="0" rIns="0">
            <a:spAutoFit/>
          </a:bodyPr>
          <a:lstStyle/>
          <a:p>
            <a:pPr algn="ctr">
              <a:lnSpc>
                <a:spcPts val="6063"/>
              </a:lnSpc>
            </a:pPr>
            <a:r>
              <a:rPr lang="en-US" sz="4330" b="true">
                <a:solidFill>
                  <a:srgbClr val="343434"/>
                </a:solidFill>
                <a:latin typeface="Open Sans Bold"/>
                <a:ea typeface="Open Sans Bold"/>
                <a:cs typeface="Open Sans Bold"/>
                <a:sym typeface="Open Sans Bold"/>
              </a:rPr>
              <a:t>MOTIVATION</a:t>
            </a:r>
          </a:p>
          <a:p>
            <a:pPr algn="just">
              <a:lnSpc>
                <a:spcPts val="6063"/>
              </a:lnSpc>
            </a:pPr>
          </a:p>
          <a:p>
            <a:pPr algn="just">
              <a:lnSpc>
                <a:spcPts val="6063"/>
              </a:lnSpc>
            </a:pPr>
            <a:r>
              <a:rPr lang="en-US" sz="4330">
                <a:solidFill>
                  <a:srgbClr val="343434"/>
                </a:solidFill>
                <a:latin typeface="Open Sans"/>
                <a:ea typeface="Open Sans"/>
                <a:cs typeface="Open Sans"/>
                <a:sym typeface="Open Sans"/>
              </a:rPr>
              <a:t>PCR primer design is one of the most common steps in molecular biology workflows. Existing tools (Primer3, OligoCalc) require manual input of sequences one by one. PCRpal allows batch validation of multiple primers at once from a single input file, saving time and reducing human error.</a:t>
            </a:r>
          </a:p>
          <a:p>
            <a:pPr algn="just">
              <a:lnSpc>
                <a:spcPts val="606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04</a:t>
            </a:r>
          </a:p>
        </p:txBody>
      </p:sp>
      <p:sp>
        <p:nvSpPr>
          <p:cNvPr name="TextBox 4" id="4"/>
          <p:cNvSpPr txBox="true"/>
          <p:nvPr/>
        </p:nvSpPr>
        <p:spPr>
          <a:xfrm rot="0">
            <a:off x="1531569" y="774397"/>
            <a:ext cx="15224863" cy="9137710"/>
          </a:xfrm>
          <a:prstGeom prst="rect">
            <a:avLst/>
          </a:prstGeom>
        </p:spPr>
        <p:txBody>
          <a:bodyPr anchor="t" rtlCol="false" tIns="0" lIns="0" bIns="0" rIns="0">
            <a:spAutoFit/>
          </a:bodyPr>
          <a:lstStyle/>
          <a:p>
            <a:pPr algn="ctr">
              <a:lnSpc>
                <a:spcPts val="5596"/>
              </a:lnSpc>
            </a:pPr>
            <a:r>
              <a:rPr lang="en-US" sz="3997" b="true">
                <a:solidFill>
                  <a:srgbClr val="343434"/>
                </a:solidFill>
                <a:latin typeface="Open Sans Bold"/>
                <a:ea typeface="Open Sans Bold"/>
                <a:cs typeface="Open Sans Bold"/>
                <a:sym typeface="Open Sans Bold"/>
              </a:rPr>
              <a:t>HOW DOES IT WORK?</a:t>
            </a:r>
          </a:p>
          <a:p>
            <a:pPr algn="l">
              <a:lnSpc>
                <a:spcPts val="5596"/>
              </a:lnSpc>
            </a:pPr>
          </a:p>
          <a:p>
            <a:pPr algn="just">
              <a:lnSpc>
                <a:spcPts val="5596"/>
              </a:lnSpc>
            </a:pPr>
            <a:r>
              <a:rPr lang="en-US" sz="3997">
                <a:solidFill>
                  <a:srgbClr val="343434"/>
                </a:solidFill>
                <a:latin typeface="Open Sans"/>
                <a:ea typeface="Open Sans"/>
                <a:cs typeface="Open Sans"/>
                <a:sym typeface="Open Sans"/>
              </a:rPr>
              <a:t>PCRpal is a Python CLI tool that takes a CSV or FASTA file with primer sequences and returns a full validation report including:</a:t>
            </a:r>
          </a:p>
          <a:p>
            <a:pPr algn="just">
              <a:lnSpc>
                <a:spcPts val="5596"/>
              </a:lnSpc>
            </a:pPr>
          </a:p>
          <a:p>
            <a:pPr algn="just" marL="863086" indent="-431543" lvl="1">
              <a:lnSpc>
                <a:spcPts val="5596"/>
              </a:lnSpc>
              <a:buFont typeface="Arial"/>
              <a:buChar char="•"/>
            </a:pPr>
            <a:r>
              <a:rPr lang="en-US" sz="3997">
                <a:solidFill>
                  <a:srgbClr val="000000"/>
                </a:solidFill>
                <a:latin typeface="Open Sans"/>
                <a:ea typeface="Open Sans"/>
                <a:cs typeface="Open Sans"/>
                <a:sym typeface="Open Sans"/>
              </a:rPr>
              <a:t>Melting temperature (Tm)</a:t>
            </a:r>
          </a:p>
          <a:p>
            <a:pPr algn="just" marL="863086" indent="-431543" lvl="1">
              <a:lnSpc>
                <a:spcPts val="5596"/>
              </a:lnSpc>
              <a:buFont typeface="Arial"/>
              <a:buChar char="•"/>
            </a:pPr>
            <a:r>
              <a:rPr lang="en-US" sz="3997">
                <a:solidFill>
                  <a:srgbClr val="000000"/>
                </a:solidFill>
                <a:latin typeface="Open Sans"/>
                <a:ea typeface="Open Sans"/>
                <a:cs typeface="Open Sans"/>
                <a:sym typeface="Open Sans"/>
              </a:rPr>
              <a:t>GC content</a:t>
            </a:r>
          </a:p>
          <a:p>
            <a:pPr algn="just" marL="863086" indent="-431543" lvl="1">
              <a:lnSpc>
                <a:spcPts val="5596"/>
              </a:lnSpc>
              <a:buFont typeface="Arial"/>
              <a:buChar char="•"/>
            </a:pPr>
            <a:r>
              <a:rPr lang="en-US" sz="3997">
                <a:solidFill>
                  <a:srgbClr val="000000"/>
                </a:solidFill>
                <a:latin typeface="Open Sans"/>
                <a:ea typeface="Open Sans"/>
                <a:cs typeface="Open Sans"/>
                <a:sym typeface="Open Sans"/>
              </a:rPr>
              <a:t>Sequence length validation</a:t>
            </a:r>
          </a:p>
          <a:p>
            <a:pPr algn="just" marL="863086" indent="-431543" lvl="1">
              <a:lnSpc>
                <a:spcPts val="5596"/>
              </a:lnSpc>
              <a:buFont typeface="Arial"/>
              <a:buChar char="•"/>
            </a:pPr>
            <a:r>
              <a:rPr lang="en-US" sz="3997">
                <a:solidFill>
                  <a:srgbClr val="000000"/>
                </a:solidFill>
                <a:latin typeface="Open Sans"/>
                <a:ea typeface="Open Sans"/>
                <a:cs typeface="Open Sans"/>
                <a:sym typeface="Open Sans"/>
              </a:rPr>
              <a:t>Self-complementarity check</a:t>
            </a:r>
          </a:p>
          <a:p>
            <a:pPr algn="just" marL="863086" indent="-431543" lvl="1">
              <a:lnSpc>
                <a:spcPts val="5596"/>
              </a:lnSpc>
              <a:buFont typeface="Arial"/>
              <a:buChar char="•"/>
            </a:pPr>
            <a:r>
              <a:rPr lang="en-US" sz="3997">
                <a:solidFill>
                  <a:srgbClr val="000000"/>
                </a:solidFill>
                <a:latin typeface="Open Sans"/>
                <a:ea typeface="Open Sans"/>
                <a:cs typeface="Open Sans"/>
                <a:sym typeface="Open Sans"/>
              </a:rPr>
              <a:t>Primer dimer detection</a:t>
            </a:r>
          </a:p>
          <a:p>
            <a:pPr algn="just" marL="863086" indent="-431543" lvl="1">
              <a:lnSpc>
                <a:spcPts val="5596"/>
              </a:lnSpc>
              <a:buFont typeface="Arial"/>
              <a:buChar char="•"/>
            </a:pPr>
            <a:r>
              <a:rPr lang="en-US" sz="3997">
                <a:solidFill>
                  <a:srgbClr val="343434"/>
                </a:solidFill>
                <a:latin typeface="Open Sans"/>
                <a:ea typeface="Open Sans"/>
                <a:cs typeface="Open Sans"/>
                <a:sym typeface="Open Sans"/>
              </a:rPr>
              <a:t>CSV report generation</a:t>
            </a:r>
          </a:p>
          <a:p>
            <a:pPr algn="just" marL="863086" indent="-431543" lvl="1">
              <a:lnSpc>
                <a:spcPts val="5596"/>
              </a:lnSpc>
              <a:buFont typeface="Arial"/>
              <a:buChar char="•"/>
            </a:pPr>
            <a:r>
              <a:rPr lang="en-US" sz="3997">
                <a:solidFill>
                  <a:srgbClr val="343434"/>
                </a:solidFill>
                <a:latin typeface="Open Sans"/>
                <a:ea typeface="Open Sans"/>
                <a:cs typeface="Open Sans"/>
                <a:sym typeface="Open Sans"/>
              </a:rPr>
              <a:t>Multi-dataset comparison with plots</a:t>
            </a:r>
          </a:p>
          <a:p>
            <a:pPr algn="l">
              <a:lnSpc>
                <a:spcPts val="559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05</a:t>
            </a:r>
          </a:p>
        </p:txBody>
      </p:sp>
      <p:sp>
        <p:nvSpPr>
          <p:cNvPr name="TextBox 4" id="4"/>
          <p:cNvSpPr txBox="true"/>
          <p:nvPr/>
        </p:nvSpPr>
        <p:spPr>
          <a:xfrm rot="0">
            <a:off x="1293716" y="1479247"/>
            <a:ext cx="15224863" cy="7023160"/>
          </a:xfrm>
          <a:prstGeom prst="rect">
            <a:avLst/>
          </a:prstGeom>
        </p:spPr>
        <p:txBody>
          <a:bodyPr anchor="t" rtlCol="false" tIns="0" lIns="0" bIns="0" rIns="0">
            <a:spAutoFit/>
          </a:bodyPr>
          <a:lstStyle/>
          <a:p>
            <a:pPr algn="l">
              <a:lnSpc>
                <a:spcPts val="5596"/>
              </a:lnSpc>
            </a:pPr>
            <a:r>
              <a:rPr lang="en-US" sz="3997" b="true">
                <a:solidFill>
                  <a:srgbClr val="343434"/>
                </a:solidFill>
                <a:latin typeface="Open Sans Bold"/>
                <a:ea typeface="Open Sans Bold"/>
                <a:cs typeface="Open Sans Bold"/>
                <a:sym typeface="Open Sans Bold"/>
              </a:rPr>
              <a:t>PCRpal consists of:</a:t>
            </a:r>
          </a:p>
          <a:p>
            <a:pPr algn="l">
              <a:lnSpc>
                <a:spcPts val="5596"/>
              </a:lnSpc>
            </a:pPr>
          </a:p>
          <a:p>
            <a:pPr algn="l" marL="863086" indent="-431543" lvl="1">
              <a:lnSpc>
                <a:spcPts val="5596"/>
              </a:lnSpc>
              <a:buFont typeface="Arial"/>
              <a:buChar char="•"/>
            </a:pPr>
            <a:r>
              <a:rPr lang="en-US" b="true" sz="3997">
                <a:solidFill>
                  <a:srgbClr val="343434"/>
                </a:solidFill>
                <a:latin typeface="Open Sans Bold"/>
                <a:ea typeface="Open Sans Bold"/>
                <a:cs typeface="Open Sans Bold"/>
                <a:sym typeface="Open Sans Bold"/>
              </a:rPr>
              <a:t>main.py</a:t>
            </a:r>
            <a:r>
              <a:rPr lang="en-US" sz="3997">
                <a:solidFill>
                  <a:srgbClr val="343434"/>
                </a:solidFill>
                <a:latin typeface="Open Sans"/>
                <a:ea typeface="Open Sans"/>
                <a:cs typeface="Open Sans"/>
                <a:sym typeface="Open Sans"/>
              </a:rPr>
              <a:t> → orchestrates the pipeline, CLI interface</a:t>
            </a:r>
          </a:p>
          <a:p>
            <a:pPr algn="l" marL="863086" indent="-431543" lvl="1">
              <a:lnSpc>
                <a:spcPts val="5596"/>
              </a:lnSpc>
              <a:buFont typeface="Arial"/>
              <a:buChar char="•"/>
            </a:pPr>
            <a:r>
              <a:rPr lang="en-US" b="true" sz="3997">
                <a:solidFill>
                  <a:srgbClr val="343434"/>
                </a:solidFill>
                <a:latin typeface="Open Sans Bold"/>
                <a:ea typeface="Open Sans Bold"/>
                <a:cs typeface="Open Sans Bold"/>
                <a:sym typeface="Open Sans Bold"/>
              </a:rPr>
              <a:t>parser.py</a:t>
            </a:r>
            <a:r>
              <a:rPr lang="en-US" sz="3997">
                <a:solidFill>
                  <a:srgbClr val="343434"/>
                </a:solidFill>
                <a:latin typeface="Open Sans"/>
                <a:ea typeface="Open Sans"/>
                <a:cs typeface="Open Sans"/>
                <a:sym typeface="Open Sans"/>
              </a:rPr>
              <a:t> → reads input file, validates sequences</a:t>
            </a:r>
          </a:p>
          <a:p>
            <a:pPr algn="l" marL="863086" indent="-431543" lvl="1">
              <a:lnSpc>
                <a:spcPts val="5596"/>
              </a:lnSpc>
              <a:buFont typeface="Arial"/>
              <a:buChar char="•"/>
            </a:pPr>
            <a:r>
              <a:rPr lang="en-US" b="true" sz="3997">
                <a:solidFill>
                  <a:srgbClr val="343434"/>
                </a:solidFill>
                <a:latin typeface="Open Sans Bold"/>
                <a:ea typeface="Open Sans Bold"/>
                <a:cs typeface="Open Sans Bold"/>
                <a:sym typeface="Open Sans Bold"/>
              </a:rPr>
              <a:t>calc</a:t>
            </a:r>
            <a:r>
              <a:rPr lang="en-US" b="true" sz="3997">
                <a:solidFill>
                  <a:srgbClr val="343434"/>
                </a:solidFill>
                <a:latin typeface="Open Sans Bold"/>
                <a:ea typeface="Open Sans Bold"/>
                <a:cs typeface="Open Sans Bold"/>
                <a:sym typeface="Open Sans Bold"/>
              </a:rPr>
              <a:t>.py</a:t>
            </a:r>
            <a:r>
              <a:rPr lang="en-US" sz="3997">
                <a:solidFill>
                  <a:srgbClr val="343434"/>
                </a:solidFill>
                <a:latin typeface="Open Sans"/>
                <a:ea typeface="Open Sans"/>
                <a:cs typeface="Open Sans"/>
                <a:sym typeface="Open Sans"/>
              </a:rPr>
              <a:t> → calculates Tm, GC content, flags out-of-range values</a:t>
            </a:r>
          </a:p>
          <a:p>
            <a:pPr algn="l" marL="863086" indent="-431543" lvl="1">
              <a:lnSpc>
                <a:spcPts val="5596"/>
              </a:lnSpc>
              <a:buFont typeface="Arial"/>
              <a:buChar char="•"/>
            </a:pPr>
            <a:r>
              <a:rPr lang="en-US" b="true" sz="3997">
                <a:solidFill>
                  <a:srgbClr val="343434"/>
                </a:solidFill>
                <a:latin typeface="Open Sans Bold"/>
                <a:ea typeface="Open Sans Bold"/>
                <a:cs typeface="Open Sans Bold"/>
                <a:sym typeface="Open Sans Bold"/>
              </a:rPr>
              <a:t>dimers.py</a:t>
            </a:r>
            <a:r>
              <a:rPr lang="en-US" sz="3997">
                <a:solidFill>
                  <a:srgbClr val="343434"/>
                </a:solidFill>
                <a:latin typeface="Open Sans"/>
                <a:ea typeface="Open Sans"/>
                <a:cs typeface="Open Sans"/>
                <a:sym typeface="Open Sans"/>
              </a:rPr>
              <a:t> → checks self-complementarity and primer dimers</a:t>
            </a:r>
          </a:p>
          <a:p>
            <a:pPr algn="l" marL="863086" indent="-431543" lvl="1">
              <a:lnSpc>
                <a:spcPts val="5596"/>
              </a:lnSpc>
              <a:buFont typeface="Arial"/>
              <a:buChar char="•"/>
            </a:pPr>
            <a:r>
              <a:rPr lang="en-US" b="true" sz="3997">
                <a:solidFill>
                  <a:srgbClr val="343434"/>
                </a:solidFill>
                <a:latin typeface="Open Sans Bold"/>
                <a:ea typeface="Open Sans Bold"/>
                <a:cs typeface="Open Sans Bold"/>
                <a:sym typeface="Open Sans Bold"/>
              </a:rPr>
              <a:t>report.py</a:t>
            </a:r>
            <a:r>
              <a:rPr lang="en-US" sz="3997">
                <a:solidFill>
                  <a:srgbClr val="343434"/>
                </a:solidFill>
                <a:latin typeface="Open Sans"/>
                <a:ea typeface="Open Sans"/>
                <a:cs typeface="Open Sans"/>
                <a:sym typeface="Open Sans"/>
              </a:rPr>
              <a:t> → generates CSV report and plots</a:t>
            </a:r>
          </a:p>
          <a:p>
            <a:pPr algn="l">
              <a:lnSpc>
                <a:spcPts val="559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5115" y="1696347"/>
            <a:ext cx="13277770" cy="7750898"/>
          </a:xfrm>
          <a:custGeom>
            <a:avLst/>
            <a:gdLst/>
            <a:ahLst/>
            <a:cxnLst/>
            <a:rect r="r" b="b" t="t" l="l"/>
            <a:pathLst>
              <a:path h="7750898" w="13277770">
                <a:moveTo>
                  <a:pt x="0" y="0"/>
                </a:moveTo>
                <a:lnTo>
                  <a:pt x="13277770" y="0"/>
                </a:lnTo>
                <a:lnTo>
                  <a:pt x="13277770" y="7750898"/>
                </a:lnTo>
                <a:lnTo>
                  <a:pt x="0" y="7750898"/>
                </a:lnTo>
                <a:lnTo>
                  <a:pt x="0" y="0"/>
                </a:lnTo>
                <a:close/>
              </a:path>
            </a:pathLst>
          </a:custGeom>
          <a:blipFill>
            <a:blip r:embed="rId5"/>
            <a:stretch>
              <a:fillRect l="0" t="0" r="0" b="0"/>
            </a:stretch>
          </a:blipFill>
        </p:spPr>
      </p:sp>
      <p:sp>
        <p:nvSpPr>
          <p:cNvPr name="TextBox 4" id="4"/>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06</a:t>
            </a:r>
          </a:p>
        </p:txBody>
      </p:sp>
      <p:sp>
        <p:nvSpPr>
          <p:cNvPr name="TextBox 5" id="5"/>
          <p:cNvSpPr txBox="true"/>
          <p:nvPr/>
        </p:nvSpPr>
        <p:spPr>
          <a:xfrm rot="0">
            <a:off x="1531569" y="614332"/>
            <a:ext cx="15224863" cy="752536"/>
          </a:xfrm>
          <a:prstGeom prst="rect">
            <a:avLst/>
          </a:prstGeom>
        </p:spPr>
        <p:txBody>
          <a:bodyPr anchor="t" rtlCol="false" tIns="0" lIns="0" bIns="0" rIns="0">
            <a:spAutoFit/>
          </a:bodyPr>
          <a:lstStyle/>
          <a:p>
            <a:pPr algn="ctr">
              <a:lnSpc>
                <a:spcPts val="6296"/>
              </a:lnSpc>
            </a:pPr>
            <a:r>
              <a:rPr lang="en-US" sz="4497" b="true">
                <a:solidFill>
                  <a:srgbClr val="343434"/>
                </a:solidFill>
                <a:latin typeface="Open Sans Bold"/>
                <a:ea typeface="Open Sans Bold"/>
                <a:cs typeface="Open Sans Bold"/>
                <a:sym typeface="Open Sans Bold"/>
              </a:rPr>
              <a:t>RESULTS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14364" y="1527607"/>
            <a:ext cx="13259273" cy="6579914"/>
          </a:xfrm>
          <a:custGeom>
            <a:avLst/>
            <a:gdLst/>
            <a:ahLst/>
            <a:cxnLst/>
            <a:rect r="r" b="b" t="t" l="l"/>
            <a:pathLst>
              <a:path h="6579914" w="13259273">
                <a:moveTo>
                  <a:pt x="0" y="0"/>
                </a:moveTo>
                <a:lnTo>
                  <a:pt x="13259272" y="0"/>
                </a:lnTo>
                <a:lnTo>
                  <a:pt x="13259272" y="6579914"/>
                </a:lnTo>
                <a:lnTo>
                  <a:pt x="0" y="6579914"/>
                </a:lnTo>
                <a:lnTo>
                  <a:pt x="0" y="0"/>
                </a:lnTo>
                <a:close/>
              </a:path>
            </a:pathLst>
          </a:custGeom>
          <a:blipFill>
            <a:blip r:embed="rId5"/>
            <a:stretch>
              <a:fillRect l="0" t="0" r="0" b="0"/>
            </a:stretch>
          </a:blipFill>
        </p:spPr>
      </p:sp>
      <p:sp>
        <p:nvSpPr>
          <p:cNvPr name="TextBox 4" id="4"/>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07</a:t>
            </a:r>
          </a:p>
        </p:txBody>
      </p:sp>
      <p:sp>
        <p:nvSpPr>
          <p:cNvPr name="TextBox 5" id="5"/>
          <p:cNvSpPr txBox="true"/>
          <p:nvPr/>
        </p:nvSpPr>
        <p:spPr>
          <a:xfrm rot="0">
            <a:off x="1531569" y="445880"/>
            <a:ext cx="15224863" cy="752536"/>
          </a:xfrm>
          <a:prstGeom prst="rect">
            <a:avLst/>
          </a:prstGeom>
        </p:spPr>
        <p:txBody>
          <a:bodyPr anchor="t" rtlCol="false" tIns="0" lIns="0" bIns="0" rIns="0">
            <a:spAutoFit/>
          </a:bodyPr>
          <a:lstStyle/>
          <a:p>
            <a:pPr algn="ctr">
              <a:lnSpc>
                <a:spcPts val="6296"/>
              </a:lnSpc>
            </a:pPr>
            <a:r>
              <a:rPr lang="en-US" sz="4497" b="true">
                <a:solidFill>
                  <a:srgbClr val="343434"/>
                </a:solidFill>
                <a:latin typeface="Open Sans Bold"/>
                <a:ea typeface="Open Sans Bold"/>
                <a:cs typeface="Open Sans Bold"/>
                <a:sym typeface="Open Sans Bold"/>
              </a:rPr>
              <a:t>RESULTS</a:t>
            </a:r>
          </a:p>
        </p:txBody>
      </p:sp>
      <p:sp>
        <p:nvSpPr>
          <p:cNvPr name="TextBox 6" id="6"/>
          <p:cNvSpPr txBox="true"/>
          <p:nvPr/>
        </p:nvSpPr>
        <p:spPr>
          <a:xfrm rot="0">
            <a:off x="3926309" y="8379562"/>
            <a:ext cx="10435382" cy="1471726"/>
          </a:xfrm>
          <a:prstGeom prst="rect">
            <a:avLst/>
          </a:prstGeom>
        </p:spPr>
        <p:txBody>
          <a:bodyPr anchor="t" rtlCol="false" tIns="0" lIns="0" bIns="0" rIns="0">
            <a:spAutoFit/>
          </a:bodyPr>
          <a:lstStyle/>
          <a:p>
            <a:pPr algn="just" marL="606254" indent="-303127" lvl="1">
              <a:lnSpc>
                <a:spcPts val="3931"/>
              </a:lnSpc>
              <a:buFont typeface="Arial"/>
              <a:buChar char="•"/>
            </a:pPr>
            <a:r>
              <a:rPr lang="en-US" b="true" sz="2808">
                <a:solidFill>
                  <a:srgbClr val="343434"/>
                </a:solidFill>
                <a:latin typeface="DM Sans Bold"/>
                <a:ea typeface="DM Sans Bold"/>
                <a:cs typeface="DM Sans Bold"/>
                <a:sym typeface="DM Sans Bold"/>
              </a:rPr>
              <a:t>Bacterial dataset:</a:t>
            </a:r>
            <a:r>
              <a:rPr lang="en-US" sz="2808">
                <a:solidFill>
                  <a:srgbClr val="343434"/>
                </a:solidFill>
                <a:latin typeface="DM Sans"/>
                <a:ea typeface="DM Sans"/>
                <a:cs typeface="DM Sans"/>
                <a:sym typeface="DM Sans"/>
              </a:rPr>
              <a:t> lowest GC out-of-range rate (30.2%)</a:t>
            </a:r>
          </a:p>
          <a:p>
            <a:pPr algn="just" marL="606254" indent="-303127" lvl="1">
              <a:lnSpc>
                <a:spcPts val="3931"/>
              </a:lnSpc>
              <a:buFont typeface="Arial"/>
              <a:buChar char="•"/>
            </a:pPr>
            <a:r>
              <a:rPr lang="en-US" b="true" sz="2808">
                <a:solidFill>
                  <a:srgbClr val="343434"/>
                </a:solidFill>
                <a:latin typeface="DM Sans Bold"/>
                <a:ea typeface="DM Sans Bold"/>
                <a:cs typeface="DM Sans Bold"/>
                <a:sym typeface="DM Sans Bold"/>
              </a:rPr>
              <a:t>Homo sapiens: </a:t>
            </a:r>
            <a:r>
              <a:rPr lang="en-US" sz="2808">
                <a:solidFill>
                  <a:srgbClr val="343434"/>
                </a:solidFill>
                <a:latin typeface="DM Sans"/>
                <a:ea typeface="DM Sans"/>
                <a:cs typeface="DM Sans"/>
                <a:sym typeface="DM Sans"/>
              </a:rPr>
              <a:t>highest proportion of length outliers (72.2%)</a:t>
            </a:r>
          </a:p>
          <a:p>
            <a:pPr algn="just" marL="606254" indent="-303127" lvl="1">
              <a:lnSpc>
                <a:spcPts val="3931"/>
              </a:lnSpc>
              <a:buFont typeface="Arial"/>
              <a:buChar char="•"/>
            </a:pPr>
            <a:r>
              <a:rPr lang="en-US" sz="2808">
                <a:solidFill>
                  <a:srgbClr val="343434"/>
                </a:solidFill>
                <a:latin typeface="DM Sans"/>
                <a:ea typeface="DM Sans"/>
                <a:cs typeface="DM Sans"/>
                <a:sym typeface="DM Sans"/>
              </a:rPr>
              <a:t>Primer dimer risk high across all datasets (79–100%)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42367" y="5381352"/>
            <a:ext cx="9003266" cy="5053083"/>
          </a:xfrm>
          <a:custGeom>
            <a:avLst/>
            <a:gdLst/>
            <a:ahLst/>
            <a:cxnLst/>
            <a:rect r="r" b="b" t="t" l="l"/>
            <a:pathLst>
              <a:path h="5053083" w="9003266">
                <a:moveTo>
                  <a:pt x="0" y="0"/>
                </a:moveTo>
                <a:lnTo>
                  <a:pt x="9003266" y="0"/>
                </a:lnTo>
                <a:lnTo>
                  <a:pt x="9003266" y="5053083"/>
                </a:lnTo>
                <a:lnTo>
                  <a:pt x="0" y="5053083"/>
                </a:lnTo>
                <a:lnTo>
                  <a:pt x="0" y="0"/>
                </a:lnTo>
                <a:close/>
              </a:path>
            </a:pathLst>
          </a:custGeom>
          <a:blipFill>
            <a:blip r:embed="rId5"/>
            <a:stretch>
              <a:fillRect l="0" t="0" r="0" b="0"/>
            </a:stretch>
          </a:blipFill>
        </p:spPr>
      </p:sp>
      <p:sp>
        <p:nvSpPr>
          <p:cNvPr name="TextBox 4" id="4"/>
          <p:cNvSpPr txBox="true"/>
          <p:nvPr/>
        </p:nvSpPr>
        <p:spPr>
          <a:xfrm rot="0">
            <a:off x="16263088"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08</a:t>
            </a:r>
          </a:p>
        </p:txBody>
      </p:sp>
      <p:sp>
        <p:nvSpPr>
          <p:cNvPr name="TextBox 5" id="5"/>
          <p:cNvSpPr txBox="true"/>
          <p:nvPr/>
        </p:nvSpPr>
        <p:spPr>
          <a:xfrm rot="0">
            <a:off x="1165160" y="952500"/>
            <a:ext cx="15957679" cy="4987986"/>
          </a:xfrm>
          <a:prstGeom prst="rect">
            <a:avLst/>
          </a:prstGeom>
        </p:spPr>
        <p:txBody>
          <a:bodyPr anchor="t" rtlCol="false" tIns="0" lIns="0" bIns="0" rIns="0">
            <a:spAutoFit/>
          </a:bodyPr>
          <a:lstStyle/>
          <a:p>
            <a:pPr algn="ctr">
              <a:lnSpc>
                <a:spcPts val="6296"/>
              </a:lnSpc>
            </a:pPr>
            <a:r>
              <a:rPr lang="en-US" sz="4497" b="true">
                <a:solidFill>
                  <a:srgbClr val="343434"/>
                </a:solidFill>
                <a:latin typeface="Open Sans Bold"/>
                <a:ea typeface="Open Sans Bold"/>
                <a:cs typeface="Open Sans Bold"/>
                <a:sym typeface="Open Sans Bold"/>
              </a:rPr>
              <a:t>FUTURE PLANS</a:t>
            </a:r>
          </a:p>
          <a:p>
            <a:pPr algn="ctr">
              <a:lnSpc>
                <a:spcPts val="5596"/>
              </a:lnSpc>
            </a:pPr>
          </a:p>
          <a:p>
            <a:pPr algn="just" marL="863086" indent="-431543" lvl="1">
              <a:lnSpc>
                <a:spcPts val="5596"/>
              </a:lnSpc>
              <a:buFont typeface="Arial"/>
              <a:buChar char="•"/>
            </a:pPr>
            <a:r>
              <a:rPr lang="en-US" sz="3997">
                <a:solidFill>
                  <a:srgbClr val="343434"/>
                </a:solidFill>
                <a:latin typeface="Open Sans"/>
                <a:ea typeface="Open Sans"/>
                <a:cs typeface="Open Sans"/>
                <a:sym typeface="Open Sans"/>
              </a:rPr>
              <a:t>Integration with Biopython Bio.SeqUtils.MeltingTemp for more accurate Tm calculations</a:t>
            </a:r>
          </a:p>
          <a:p>
            <a:pPr algn="just" marL="863086" indent="-431543" lvl="1">
              <a:lnSpc>
                <a:spcPts val="5596"/>
              </a:lnSpc>
              <a:buFont typeface="Arial"/>
              <a:buChar char="•"/>
            </a:pPr>
            <a:r>
              <a:rPr lang="en-US" sz="3997">
                <a:solidFill>
                  <a:srgbClr val="343434"/>
                </a:solidFill>
                <a:latin typeface="Open Sans"/>
                <a:ea typeface="Open Sans"/>
                <a:cs typeface="Open Sans"/>
                <a:sym typeface="Open Sans"/>
              </a:rPr>
              <a:t>Support for target sequence input and binding site visualization</a:t>
            </a:r>
          </a:p>
          <a:p>
            <a:pPr algn="just" marL="863086" indent="-431543" lvl="1">
              <a:lnSpc>
                <a:spcPts val="5596"/>
              </a:lnSpc>
              <a:buFont typeface="Arial"/>
              <a:buChar char="•"/>
            </a:pPr>
            <a:r>
              <a:rPr lang="en-US" sz="3997">
                <a:solidFill>
                  <a:srgbClr val="343434"/>
                </a:solidFill>
                <a:latin typeface="Open Sans"/>
                <a:ea typeface="Open Sans"/>
                <a:cs typeface="Open Sans"/>
                <a:sym typeface="Open Sans"/>
              </a:rPr>
              <a:t>BLAST integration for off-target binding check</a:t>
            </a:r>
          </a:p>
          <a:p>
            <a:pPr algn="just" marL="863086" indent="-431543" lvl="1">
              <a:lnSpc>
                <a:spcPts val="5596"/>
              </a:lnSpc>
              <a:buFont typeface="Arial"/>
              <a:buChar char="•"/>
            </a:pPr>
            <a:r>
              <a:rPr lang="en-US" sz="3997">
                <a:solidFill>
                  <a:srgbClr val="343434"/>
                </a:solidFill>
                <a:latin typeface="Open Sans"/>
                <a:ea typeface="Open Sans"/>
                <a:cs typeface="Open Sans"/>
                <a:sym typeface="Open Sans"/>
              </a:rPr>
              <a:t>GUI via Streamlit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263088"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09</a:t>
            </a:r>
          </a:p>
        </p:txBody>
      </p:sp>
      <p:sp>
        <p:nvSpPr>
          <p:cNvPr name="TextBox 4" id="4"/>
          <p:cNvSpPr txBox="true"/>
          <p:nvPr/>
        </p:nvSpPr>
        <p:spPr>
          <a:xfrm rot="0">
            <a:off x="903222" y="962025"/>
            <a:ext cx="16481555" cy="8018145"/>
          </a:xfrm>
          <a:prstGeom prst="rect">
            <a:avLst/>
          </a:prstGeom>
        </p:spPr>
        <p:txBody>
          <a:bodyPr anchor="t" rtlCol="false" tIns="0" lIns="0" bIns="0" rIns="0">
            <a:spAutoFit/>
          </a:bodyPr>
          <a:lstStyle/>
          <a:p>
            <a:pPr algn="ctr">
              <a:lnSpc>
                <a:spcPts val="5179"/>
              </a:lnSpc>
            </a:pPr>
            <a:r>
              <a:rPr lang="en-US" sz="3699" b="true">
                <a:solidFill>
                  <a:srgbClr val="343434"/>
                </a:solidFill>
                <a:latin typeface="Open Sans Bold"/>
                <a:ea typeface="Open Sans Bold"/>
                <a:cs typeface="Open Sans Bold"/>
                <a:sym typeface="Open Sans Bold"/>
              </a:rPr>
              <a:t>BIBLIOGRAPHY</a:t>
            </a:r>
          </a:p>
          <a:p>
            <a:pPr algn="ctr">
              <a:lnSpc>
                <a:spcPts val="5040"/>
              </a:lnSpc>
            </a:pPr>
          </a:p>
          <a:p>
            <a:pPr algn="l" marL="690882" indent="-345441" lvl="1">
              <a:lnSpc>
                <a:spcPts val="4480"/>
              </a:lnSpc>
              <a:buFont typeface="Arial"/>
              <a:buChar char="•"/>
            </a:pPr>
            <a:r>
              <a:rPr lang="en-US" sz="3200">
                <a:solidFill>
                  <a:srgbClr val="343434"/>
                </a:solidFill>
                <a:latin typeface="Open Sans"/>
                <a:ea typeface="Open Sans"/>
                <a:cs typeface="Open Sans"/>
                <a:sym typeface="Open Sans"/>
              </a:rPr>
              <a:t>Untergasser et al. (2012) → </a:t>
            </a:r>
            <a:r>
              <a:rPr lang="en-US" sz="3200" i="true">
                <a:solidFill>
                  <a:srgbClr val="343434"/>
                </a:solidFill>
                <a:latin typeface="Open Sans Italics"/>
                <a:ea typeface="Open Sans Italics"/>
                <a:cs typeface="Open Sans Italics"/>
                <a:sym typeface="Open Sans Italics"/>
              </a:rPr>
              <a:t>Primer3—new capabilities and interfaces</a:t>
            </a:r>
            <a:r>
              <a:rPr lang="en-US" sz="3200">
                <a:solidFill>
                  <a:srgbClr val="343434"/>
                </a:solidFill>
                <a:latin typeface="Open Sans"/>
                <a:ea typeface="Open Sans"/>
                <a:cs typeface="Open Sans"/>
                <a:sym typeface="Open Sans"/>
              </a:rPr>
              <a:t> </a:t>
            </a:r>
            <a:r>
              <a:rPr lang="en-US" sz="3200" u="sng">
                <a:solidFill>
                  <a:srgbClr val="343434"/>
                </a:solidFill>
                <a:latin typeface="Open Sans"/>
                <a:ea typeface="Open Sans"/>
                <a:cs typeface="Open Sans"/>
                <a:sym typeface="Open Sans"/>
                <a:hlinkClick r:id="rId5" tooltip="https://doi.org/10.1093/nar/gks596"/>
              </a:rPr>
              <a:t>https://doi.org/10.1093/nar/gks596</a:t>
            </a:r>
          </a:p>
          <a:p>
            <a:pPr algn="l" marL="690882" indent="-345441" lvl="1">
              <a:lnSpc>
                <a:spcPts val="4480"/>
              </a:lnSpc>
              <a:buFont typeface="Arial"/>
              <a:buChar char="•"/>
            </a:pPr>
            <a:r>
              <a:rPr lang="en-US" sz="3200">
                <a:solidFill>
                  <a:srgbClr val="343434"/>
                </a:solidFill>
                <a:latin typeface="Open Sans"/>
                <a:ea typeface="Open Sans"/>
                <a:cs typeface="Open Sans"/>
                <a:sym typeface="Open Sans"/>
              </a:rPr>
              <a:t>Kibbe (2007) →</a:t>
            </a:r>
            <a:r>
              <a:rPr lang="en-US" sz="3200" u="none">
                <a:solidFill>
                  <a:srgbClr val="343434"/>
                </a:solidFill>
                <a:latin typeface="Open Sans"/>
                <a:ea typeface="Open Sans"/>
                <a:cs typeface="Open Sans"/>
                <a:sym typeface="Open Sans"/>
              </a:rPr>
              <a:t> </a:t>
            </a:r>
            <a:r>
              <a:rPr lang="en-US" sz="3200" i="true" u="none">
                <a:solidFill>
                  <a:srgbClr val="343434"/>
                </a:solidFill>
                <a:latin typeface="Open Sans Italics"/>
                <a:ea typeface="Open Sans Italics"/>
                <a:cs typeface="Open Sans Italics"/>
                <a:sym typeface="Open Sans Italics"/>
              </a:rPr>
              <a:t>OligoCalc: an online oligonucleotide properties calculator</a:t>
            </a:r>
            <a:r>
              <a:rPr lang="en-US" sz="3200" u="none">
                <a:solidFill>
                  <a:srgbClr val="343434"/>
                </a:solidFill>
                <a:latin typeface="Open Sans"/>
                <a:ea typeface="Open Sans"/>
                <a:cs typeface="Open Sans"/>
                <a:sym typeface="Open Sans"/>
              </a:rPr>
              <a:t> </a:t>
            </a:r>
            <a:r>
              <a:rPr lang="en-US" sz="3200" u="sng">
                <a:solidFill>
                  <a:srgbClr val="343434"/>
                </a:solidFill>
                <a:latin typeface="Open Sans"/>
                <a:ea typeface="Open Sans"/>
                <a:cs typeface="Open Sans"/>
                <a:sym typeface="Open Sans"/>
                <a:hlinkClick r:id="rId6" tooltip="https://doi.org/10.1093/nar/gkm234"/>
              </a:rPr>
              <a:t>https://doi.org/10.1093/nar/gkm234</a:t>
            </a:r>
          </a:p>
          <a:p>
            <a:pPr algn="l" marL="690882" indent="-345441" lvl="1">
              <a:lnSpc>
                <a:spcPts val="4480"/>
              </a:lnSpc>
              <a:buFont typeface="Arial"/>
              <a:buChar char="•"/>
            </a:pPr>
            <a:r>
              <a:rPr lang="en-US" sz="3200">
                <a:solidFill>
                  <a:srgbClr val="343434"/>
                </a:solidFill>
                <a:latin typeface="Open Sans"/>
                <a:ea typeface="Open Sans"/>
                <a:cs typeface="Open Sans"/>
                <a:sym typeface="Open Sans"/>
              </a:rPr>
              <a:t>Wallace R.B. et al. (1979) → </a:t>
            </a:r>
            <a:r>
              <a:rPr lang="en-US" sz="3200" i="true">
                <a:solidFill>
                  <a:srgbClr val="343434"/>
                </a:solidFill>
                <a:latin typeface="Open Sans Italics"/>
                <a:ea typeface="Open Sans Italics"/>
                <a:cs typeface="Open Sans Italics"/>
                <a:sym typeface="Open Sans Italics"/>
              </a:rPr>
              <a:t>Hybridization of synthetic oligodeoxyribonucleotides to φX 174 DNA: the effect of single base pair mismatch </a:t>
            </a:r>
            <a:r>
              <a:rPr lang="en-US" sz="3200" u="sng">
                <a:solidFill>
                  <a:srgbClr val="343434"/>
                </a:solidFill>
                <a:latin typeface="Open Sans"/>
                <a:ea typeface="Open Sans"/>
                <a:cs typeface="Open Sans"/>
                <a:sym typeface="Open Sans"/>
                <a:hlinkClick r:id="rId7" tooltip="https://doi.org/10.1093/nar/6.11.3543"/>
              </a:rPr>
              <a:t>https://doi.org/10.1093/nar/6.11.3543</a:t>
            </a:r>
          </a:p>
          <a:p>
            <a:pPr algn="l" marL="690882" indent="-345441" lvl="1">
              <a:lnSpc>
                <a:spcPts val="4480"/>
              </a:lnSpc>
              <a:buFont typeface="Arial"/>
              <a:buChar char="•"/>
            </a:pPr>
            <a:r>
              <a:rPr lang="en-US" sz="3200">
                <a:solidFill>
                  <a:srgbClr val="343434"/>
                </a:solidFill>
                <a:latin typeface="Open Sans"/>
                <a:ea typeface="Open Sans"/>
                <a:cs typeface="Open Sans"/>
                <a:sym typeface="Open Sans"/>
              </a:rPr>
              <a:t>Brownie J. et al. (1997) → </a:t>
            </a:r>
            <a:r>
              <a:rPr lang="en-US" sz="3200" i="true">
                <a:solidFill>
                  <a:srgbClr val="343434"/>
                </a:solidFill>
                <a:latin typeface="Open Sans Italics"/>
                <a:ea typeface="Open Sans Italics"/>
                <a:cs typeface="Open Sans Italics"/>
                <a:sym typeface="Open Sans Italics"/>
              </a:rPr>
              <a:t>The elimination of primer-dimer accumulation in PCR </a:t>
            </a:r>
            <a:r>
              <a:rPr lang="en-US" sz="3200" u="sng">
                <a:solidFill>
                  <a:srgbClr val="343434"/>
                </a:solidFill>
                <a:latin typeface="Open Sans"/>
                <a:ea typeface="Open Sans"/>
                <a:cs typeface="Open Sans"/>
                <a:sym typeface="Open Sans"/>
                <a:hlinkClick r:id="rId8" tooltip="https://doi.org/10.1093/nar/25.16.3235"/>
              </a:rPr>
              <a:t>https://doi.org/10.1093/nar/25.16.3235</a:t>
            </a:r>
          </a:p>
          <a:p>
            <a:pPr algn="l" marL="690882" indent="-345441" lvl="1">
              <a:lnSpc>
                <a:spcPts val="4480"/>
              </a:lnSpc>
              <a:buFont typeface="Arial"/>
              <a:buChar char="•"/>
            </a:pPr>
            <a:r>
              <a:rPr lang="en-US" sz="3200">
                <a:solidFill>
                  <a:srgbClr val="343434"/>
                </a:solidFill>
                <a:latin typeface="Open Sans"/>
                <a:ea typeface="Open Sans"/>
                <a:cs typeface="Open Sans"/>
                <a:sym typeface="Open Sans"/>
              </a:rPr>
              <a:t>Rychlik W., Rhoads R.E. (1989) → </a:t>
            </a:r>
            <a:r>
              <a:rPr lang="en-US" sz="3200" i="true">
                <a:solidFill>
                  <a:srgbClr val="343434"/>
                </a:solidFill>
                <a:latin typeface="Open Sans Italics"/>
                <a:ea typeface="Open Sans Italics"/>
                <a:cs typeface="Open Sans Italics"/>
                <a:sym typeface="Open Sans Italics"/>
              </a:rPr>
              <a:t>A computer program for choosing optimal oligonucleotides for filter hybridization, sequencing and in vitro amplification of DNA</a:t>
            </a:r>
            <a:r>
              <a:rPr lang="en-US" sz="3200">
                <a:solidFill>
                  <a:srgbClr val="343434"/>
                </a:solidFill>
                <a:latin typeface="Open Sans"/>
                <a:ea typeface="Open Sans"/>
                <a:cs typeface="Open Sans"/>
                <a:sym typeface="Open Sans"/>
              </a:rPr>
              <a:t> </a:t>
            </a:r>
            <a:r>
              <a:rPr lang="en-US" sz="3200" u="sng">
                <a:solidFill>
                  <a:srgbClr val="343434"/>
                </a:solidFill>
                <a:latin typeface="Open Sans"/>
                <a:ea typeface="Open Sans"/>
                <a:cs typeface="Open Sans"/>
                <a:sym typeface="Open Sans"/>
                <a:hlinkClick r:id="rId9" tooltip="https://doi.org/10.1093/nar/17.21.8543"/>
              </a:rPr>
              <a:t>https://doi.org/10.1093/nar/17.21.8543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a:hlinkClick r:id="rId4" tooltip="https://github.com/nicolas-bourbaki03/PCRpal"/>
          </p:cNvPr>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10 </a:t>
            </a:r>
          </a:p>
        </p:txBody>
      </p:sp>
      <p:sp>
        <p:nvSpPr>
          <p:cNvPr name="TextBox 4" id="4"/>
          <p:cNvSpPr txBox="true"/>
          <p:nvPr/>
        </p:nvSpPr>
        <p:spPr>
          <a:xfrm rot="0">
            <a:off x="2994513" y="4649772"/>
            <a:ext cx="11823268" cy="927161"/>
          </a:xfrm>
          <a:prstGeom prst="rect">
            <a:avLst/>
          </a:prstGeom>
        </p:spPr>
        <p:txBody>
          <a:bodyPr anchor="t" rtlCol="false" tIns="0" lIns="0" bIns="0" rIns="0">
            <a:spAutoFit/>
          </a:bodyPr>
          <a:lstStyle/>
          <a:p>
            <a:pPr algn="ctr">
              <a:lnSpc>
                <a:spcPts val="7696"/>
              </a:lnSpc>
            </a:pPr>
            <a:r>
              <a:rPr lang="en-US" sz="5497" b="true">
                <a:solidFill>
                  <a:srgbClr val="343434"/>
                </a:solidFill>
                <a:latin typeface="Open Sans Bold"/>
                <a:ea typeface="Open Sans Bold"/>
                <a:cs typeface="Open Sans Bold"/>
                <a:sym typeface="Open Sans Bold"/>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DAHKF_UUd4Q</dc:identifier>
  <dcterms:modified xsi:type="dcterms:W3CDTF">2011-08-01T06:04:30Z</dcterms:modified>
  <cp:revision>1</cp:revision>
  <dc:title>PCRpal_presentation</dc:title>
</cp:coreProperties>
</file>